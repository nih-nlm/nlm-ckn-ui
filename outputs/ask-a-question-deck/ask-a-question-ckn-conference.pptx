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1188720"/>
            <a:ext cx="5394960" cy="5394960"/>
          </a:xfrm>
          <a:prstGeom prst="arc">
            <a:avLst/>
          </a:prstGeom>
          <a:solidFill>
            <a:srgbClr val="16212F">
              <a:alpha val="0"/>
            </a:srgbClr>
          </a:solidFill>
          <a:ln w="25400">
            <a:solidFill>
              <a:srgbClr val="3AA6B9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320040"/>
            <a:ext cx="3840480" cy="3840480"/>
          </a:xfrm>
          <a:prstGeom prst="arc">
            <a:avLst/>
          </a:prstGeom>
          <a:solidFill>
            <a:srgbClr val="16212F">
              <a:alpha val="0"/>
            </a:srgbClr>
          </a:solidFill>
          <a:ln w="25400">
            <a:solidFill>
              <a:srgbClr val="D5893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 CONFERENCE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5669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a Question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85216" y="1993392"/>
            <a:ext cx="60350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DC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graph exploration for the NLM Cell Knowledge Network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12648" y="2816352"/>
            <a:ext cx="5486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B9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questions become validated AQL, graph-shaped evidence, and iterative biomedical discovery workflows.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58368" y="4800600"/>
            <a:ext cx="1371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" y="5230368"/>
            <a:ext cx="1554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concepts exposed as query targets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0" y="4800600"/>
            <a:ext cx="1371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5230368"/>
            <a:ext cx="1554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selectable in the UI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43400" y="4800600"/>
            <a:ext cx="1371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43400" y="5230368"/>
            <a:ext cx="1554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node-specific suggestion chips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shift is from query writing to graph steering.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Question is not a chatbot bolted onto search. It is a graph construction and refinement workflow.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28346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965960"/>
            <a:ext cx="2834640" cy="2560320"/>
          </a:xfrm>
          <a:prstGeom prst="roundRect">
            <a:avLst>
              <a:gd name="adj" fmla="val 2143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1965960"/>
            <a:ext cx="2834640" cy="2560320"/>
          </a:xfrm>
          <a:prstGeom prst="roundRect">
            <a:avLst>
              <a:gd name="adj" fmla="val 2143"/>
            </a:avLst>
          </a:prstGeom>
          <a:solidFill>
            <a:srgbClr val="EAF6EF"/>
          </a:solidFill>
          <a:ln w="12700">
            <a:solidFill>
              <a:srgbClr val="B8D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743200"/>
            <a:ext cx="21488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needed to know collections, edge names, traversal direction, AQL syntax, and result shaping.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21488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maps intent to CKN concepts, chooses deterministic or generated AQL, validates safety, and returns graph evidence.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851392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51392" y="2743200"/>
            <a:ext cx="21488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ask, inspect, refine, prune, expand, save, and reload graph states as reusable knowledge objects.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3611880" y="3246120"/>
            <a:ext cx="914400" cy="0"/>
          </a:xfrm>
          <a:prstGeom prst="line">
            <a:avLst/>
          </a:prstGeom>
          <a:noFill/>
          <a:ln w="22860">
            <a:solidFill>
              <a:srgbClr val="225B9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3246120"/>
            <a:ext cx="914400" cy="0"/>
          </a:xfrm>
          <a:prstGeom prst="line">
            <a:avLst/>
          </a:prstGeom>
          <a:noFill/>
          <a:ln w="22860">
            <a:solidFill>
              <a:srgbClr val="225B9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5B93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set of services creates a full conversational graph loop.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owns the interaction state; Django owns planning, safety, execution, and graph normalization.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874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225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59152"/>
            <a:ext cx="1554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Ask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15544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chat, mode, table/graph, selection, save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468880" y="2907792"/>
            <a:ext cx="228600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2103120"/>
            <a:ext cx="1874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22A6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2359152"/>
            <a:ext cx="1554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53512" y="2834640"/>
            <a:ext cx="15544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serializer validation and graph choice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709160" y="2907792"/>
            <a:ext cx="228600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2103120"/>
            <a:ext cx="1874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3D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359152"/>
            <a:ext cx="1554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93792" y="2834640"/>
            <a:ext cx="15544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OpenAI fallback, recovery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949440" y="2907792"/>
            <a:ext cx="228600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103120"/>
            <a:ext cx="1874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589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2359152"/>
            <a:ext cx="1554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ArangoDB CKN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34072" y="2834640"/>
            <a:ext cx="15544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graph traversal over loaded collections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189720" y="2907792"/>
            <a:ext cx="228600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2103120"/>
            <a:ext cx="1874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7B4A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74352" y="2359152"/>
            <a:ext cx="1554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response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74352" y="2834640"/>
            <a:ext cx="15544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rows, nodes, links, suggestions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94944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backend contracts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4590288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4668012"/>
            <a:ext cx="3758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/arango_api/ask/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40880" y="4590288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4668012"/>
            <a:ext cx="3758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/arango_api/ask/node-suggestions/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0" y="5093208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5170932"/>
            <a:ext cx="3758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QuestionRequestSerializer: question, graph, mode, history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40880" y="5093208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5170932"/>
            <a:ext cx="3758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AQL validation before execution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3D8B57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CASCADE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system prefers deterministic CKN knowledge before asking a model.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biomedical paths are encoded directly; OpenAI fills gaps with live schema context and read-only constraints.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3D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856232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61872" y="176479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plan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3246120" y="1764792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mode=refine, expand from latest graph summary.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496312"/>
            <a:ext cx="347472" cy="347472"/>
          </a:xfrm>
          <a:prstGeom prst="ellipse">
            <a:avLst/>
          </a:prstGeom>
          <a:solidFill>
            <a:srgbClr val="225B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569464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61872" y="2478024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traversal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246120" y="2478024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Disease-gene, disease-gene-cell, drug-trial, retina-cell-set, and other known paths.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3209544"/>
            <a:ext cx="347472" cy="347472"/>
          </a:xfrm>
          <a:prstGeom prst="ellipse">
            <a:avLst/>
          </a:prstGeom>
          <a:solidFill>
            <a:srgbClr val="D589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3282696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61872" y="319125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collection search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3246120" y="3191256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label contains / matching queries.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3922776"/>
            <a:ext cx="347472" cy="347472"/>
          </a:xfrm>
          <a:prstGeom prst="ellipse">
            <a:avLst/>
          </a:prstGeom>
          <a:solidFill>
            <a:srgbClr val="7B4A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995928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61872" y="390448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AQL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3246120" y="390448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Schema-grounded JSON response when deterministic coverage ends.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636008"/>
            <a:ext cx="347472" cy="347472"/>
          </a:xfrm>
          <a:prstGeom prst="ellipse">
            <a:avLst/>
          </a:prstGeom>
          <a:solidFill>
            <a:srgbClr val="C445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4709160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61872" y="461772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+ recovery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3246120" y="4617720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text search or deterministic recovery on failures / zero 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1627632"/>
            <a:ext cx="3337560" cy="3840480"/>
          </a:xfrm>
          <a:prstGeom prst="roundRect">
            <a:avLst>
              <a:gd name="adj" fmla="val 1644"/>
            </a:avLst>
          </a:prstGeom>
          <a:solidFill>
            <a:srgbClr val="223043"/>
          </a:solidFill>
          <a:ln w="12700">
            <a:solidFill>
              <a:srgbClr val="223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invariant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2450592"/>
            <a:ext cx="26060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7E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generated query is normalized and validated as read-only before execution. Mutating AQL and system collection access are blocked.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6760" y="4407408"/>
            <a:ext cx="2606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7E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output is useful, but never trusted blindly. The CKN schema and validator remain the guardrails.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D58936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GROUNDING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language is anchored to CKN concepts and edge definitions.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combines a LinkML-informed concept map with live Arango collection and graph metadata.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5224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 MONDO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95224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 GS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95224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type  CL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732520" y="187452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95224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 CHEMBL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0080" y="2715768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F5F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79349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F5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Protein  PR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337560" y="2715768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279349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Anatomy  UBERON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035040" y="2715768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79349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set  CS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732520" y="2715768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42248" y="279349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 CSD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0080" y="3557016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A23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63474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A23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 NCT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337560" y="3557016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63474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 PUB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035040" y="3557016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63474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45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Phenotype  HP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732520" y="3557016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42248" y="363474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B8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 GO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85800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inputs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3172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aliases + sampled fields + counts + named graph edge definitions + association hints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edge hints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31720" y="5349240"/>
            <a:ext cx="8046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GS-MONDO, CL-GS, CHEMBL-GS, CHEMBL-NCT, CS-UBERON, CSD-PUB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3D8B57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“Show cell sets reachable from retina” becomes a direct anatomy traversal.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parser extracts retina as the focus term, maps cell sets to CS, and uses CS-UBERON as the evidence edge.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21792" y="1828800"/>
            <a:ext cx="2971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084832"/>
            <a:ext cx="1188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2578608"/>
            <a:ext cx="2194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cell sets reachable from retina.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51960" y="1627632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EAF6EF"/>
          </a:solidFill>
          <a:ln w="12700">
            <a:solidFill>
              <a:srgbClr val="B8D7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892808"/>
            <a:ext cx="1828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= 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679192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= UBERON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302666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 = retina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374136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= CS-UBERON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54680" y="4892040"/>
            <a:ext cx="512064" cy="512064"/>
          </a:xfrm>
          <a:prstGeom prst="ellipse">
            <a:avLst/>
          </a:prstGeom>
          <a:solidFill>
            <a:srgbClr val="D5893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4919472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retina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76472" y="5157216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UBERON/0000966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715000" y="4343400"/>
            <a:ext cx="512064" cy="512064"/>
          </a:xfrm>
          <a:prstGeom prst="ellipse">
            <a:avLst/>
          </a:prstGeom>
          <a:solidFill>
            <a:srgbClr val="2A9D8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4370832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set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336792" y="4608576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15000" y="5349240"/>
            <a:ext cx="512064" cy="512064"/>
          </a:xfrm>
          <a:prstGeom prst="ellipse">
            <a:avLst/>
          </a:prstGeom>
          <a:solidFill>
            <a:srgbClr val="2A9D8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5376672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set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36792" y="5614416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440680" y="4599432"/>
            <a:ext cx="-1645920" cy="411480"/>
          </a:xfrm>
          <a:prstGeom prst="line">
            <a:avLst/>
          </a:prstGeom>
          <a:noFill/>
          <a:ln w="22860">
            <a:solidFill>
              <a:srgbClr val="7C879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40680" y="5577840"/>
            <a:ext cx="-1645920" cy="-429768"/>
          </a:xfrm>
          <a:prstGeom prst="line">
            <a:avLst/>
          </a:prstGeom>
          <a:noFill/>
          <a:ln w="22860">
            <a:solidFill>
              <a:srgbClr val="7C8795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480560" y="4736592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DERIVES_FROM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183880" y="1874520"/>
            <a:ext cx="283464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AQL returns anatomy, cell_set, edge, and path so the graph can show evidence, not just a list.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7B4AB2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answer is shaped for both a table and a graph.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are useful for inspection; nodes and links are required for explanation and follow-up.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749808" y="1691640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1874520" y="1691640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and nested result objects for table inspection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49808" y="2404872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1874520" y="2404872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human-readable labels, collection colors, tooltip fields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49808" y="3118104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874520" y="3118104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docs, source/target IDs, labels, paths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49808" y="3831336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AQL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874520" y="3831336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generated, recovered, expanded, or pruned query text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49808" y="454456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Suggestions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874520" y="4544568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counted follow-up questions with nonzero data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0" y="1572768"/>
            <a:ext cx="438912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payload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286000"/>
            <a:ext cx="30175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answer,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aql,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bind_vars,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columns,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rows,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nodes,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links,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suggested_questions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4599432"/>
            <a:ext cx="3383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result object powers conversation memory, graph rendering, pruning, and export.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MEMORY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questions expand the graph instead of starting over.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sends compact result summaries; the backend uses node IDs as anchors for refine plans.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196596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1671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59536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genes are associated with Alzheimer disease?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2944368" y="2926080"/>
            <a:ext cx="384048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196596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1671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50208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648456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contains disease, genes, and GS-MONDO edges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733288" y="2926080"/>
            <a:ext cx="384048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36208" y="196596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1671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9128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37376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show drugs associated with this?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8522208" y="2926080"/>
            <a:ext cx="384048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25128" y="196596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21671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226296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drugs and edges are deduplicated into the current graph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19202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interaction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892040"/>
            <a:ext cx="7863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graph results appear, pressing Enter defaults to Refine current graph. Users can explicitly choose New search.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D58936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 ENGINE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Suggestions are grounded by counts, not theoretical possibilities.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proposes follow-ups only when reachable graph data exists, and node-specific suggestions enrich within a time budget.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7548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Result-level suggestions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at collections already visible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4495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additional reachable target collections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show chips with nonzero additions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clicked chips as refine queries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4754880" cy="3383280"/>
          </a:xfrm>
          <a:prstGeom prst="roundRect">
            <a:avLst>
              <a:gd name="adj" fmla="val 1622"/>
            </a:avLst>
          </a:prstGeom>
          <a:solidFill>
            <a:srgbClr val="FBF1DF"/>
          </a:solidFill>
          <a:ln w="12700">
            <a:solidFill>
              <a:srgbClr val="E8C7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Node-level suggestions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263347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local visible chips immediately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304495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direct neighbor collection counts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Enrich additional collections one by 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867912"/>
            <a:ext cx="3749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by graph + node 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623560"/>
            <a:ext cx="9875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retina node returns genes, diseases, cell types, proteins, datasets, cell sets, processes, species, biomarkers, and gene sets.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CURATION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graph viewer is an analysis surface, not just a picture.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manipulate the result set while preserving an AQL-backed view of what has been removed or expanded.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9339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47672" y="201168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all visible nodes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99339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50992" y="201168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a box without recentering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19872" y="182880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99339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selected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54312" y="201168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selected nodes and edges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" y="306324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22783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singlets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947672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disconnected nodes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16552" y="306324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322783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50992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and export loader-compatible JSON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19872" y="306324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322783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54312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resizable full-screen workspace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" y="489204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4892040"/>
            <a:ext cx="7955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Deletes are visualization/context deletes. They do not remove records from ArangoDB; they update the visible result and wrap the displayed AQL with exclusion filters.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7B4AB2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Saved graphs support both in-app recall and file-based exchange.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 graph save action bridges the existing saved-graphs store and the existing loader-compatible export format.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3891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saved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3246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timestamp, originNodeIds, settings, graphData, source question, answer, AQL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load later through the existing saved graph workflow.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37960" y="1874520"/>
            <a:ext cx="4389120" cy="3291840"/>
          </a:xfrm>
          <a:prstGeom prst="roundRect">
            <a:avLst>
              <a:gd name="adj" fmla="val 1667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Downloaded 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"nodes": [...],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"links": [...]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416052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pass the existing Load from file validator without changing loader behavior.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3474720"/>
            <a:ext cx="1097280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6035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this useful for CKN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764792"/>
            <a:ext cx="137160" cy="137160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91640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700784"/>
            <a:ext cx="6492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LinkML/Arango schema constrains and explains the query path.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514600"/>
            <a:ext cx="137160" cy="137160"/>
          </a:xfrm>
          <a:prstGeom prst="rect">
            <a:avLst/>
          </a:prstGeom>
          <a:solidFill>
            <a:srgbClr val="3D8B57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4144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Evidence-shaped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450592"/>
            <a:ext cx="6492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Rows, nodes, edges, and paths are returned together.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3264408"/>
            <a:ext cx="137160" cy="137160"/>
          </a:xfrm>
          <a:prstGeom prst="rect">
            <a:avLst/>
          </a:prstGeom>
          <a:solidFill>
            <a:srgbClr val="D58936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191256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6492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mode treats the current graph as memory.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4014216"/>
            <a:ext cx="137160" cy="137160"/>
          </a:xfrm>
          <a:prstGeom prst="rect">
            <a:avLst/>
          </a:prstGeom>
          <a:solidFill>
            <a:srgbClr val="7B4AB2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941064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3950208"/>
            <a:ext cx="6492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prune, expand, save, and reload graphs.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4764024"/>
            <a:ext cx="137160" cy="1371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690872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4700016"/>
            <a:ext cx="6492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deterministic traversals can be added as CKN evolves.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870448"/>
            <a:ext cx="8412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Question turns a biomedical knowledge graph into an iterative reasoning surface.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capability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National Library of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a Question: Conversational Graph Exploration for NLM CKN</dc:title>
  <dc:subject>Ask a Question architecture for the NLM Cell Knowledge Network</dc:subject>
  <dc:creator>NLM CKN</dc:creator>
  <cp:lastModifiedBy>NLM CKN</cp:lastModifiedBy>
  <cp:revision>1</cp:revision>
  <dcterms:created xsi:type="dcterms:W3CDTF">2026-05-18T03:50:04Z</dcterms:created>
  <dcterms:modified xsi:type="dcterms:W3CDTF">2026-05-18T03:50:04Z</dcterms:modified>
</cp:coreProperties>
</file>