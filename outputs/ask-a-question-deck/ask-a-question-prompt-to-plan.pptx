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02336"/>
            <a:ext cx="164592" cy="164592"/>
          </a:xfrm>
          <a:prstGeom prst="rect">
            <a:avLst/>
          </a:prstGeom>
          <a:solidFill>
            <a:srgbClr val="22A6B3"/>
          </a:solidFill>
          <a:ln w="12700">
            <a:solidFill>
              <a:srgbClr val="22A6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3611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 ARCHITECTURE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1234440"/>
            <a:ext cx="676656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5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Prompt to Traversal Plan</a:t>
            </a:r>
            <a:endParaRPr lang="en-US" sz="3500" dirty="0"/>
          </a:p>
        </p:txBody>
      </p:sp>
      <p:sp>
        <p:nvSpPr>
          <p:cNvPr id="6" name="Text 4"/>
          <p:cNvSpPr/>
          <p:nvPr/>
        </p:nvSpPr>
        <p:spPr>
          <a:xfrm>
            <a:off x="594360" y="2048256"/>
            <a:ext cx="649224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50" dirty="0">
                <a:solidFill>
                  <a:srgbClr val="DCE7F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How Ask a Question decides between heuristics, deterministic CKN traversals, OpenAI-generated AQL, and fallback recovery.</a:t>
            </a:r>
            <a:endParaRPr lang="en-US" sz="1550" dirty="0"/>
          </a:p>
        </p:txBody>
      </p:sp>
      <p:sp>
        <p:nvSpPr>
          <p:cNvPr id="7" name="Shape 5"/>
          <p:cNvSpPr/>
          <p:nvPr/>
        </p:nvSpPr>
        <p:spPr>
          <a:xfrm>
            <a:off x="7360920" y="1051560"/>
            <a:ext cx="3886200" cy="4343400"/>
          </a:xfrm>
          <a:prstGeom prst="roundRect">
            <a:avLst>
              <a:gd name="adj" fmla="val 1412"/>
            </a:avLst>
          </a:prstGeom>
          <a:solidFill>
            <a:srgbClr val="223043"/>
          </a:solidFill>
          <a:ln w="12700">
            <a:solidFill>
              <a:srgbClr val="314257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818120" y="1508760"/>
            <a:ext cx="2907792" cy="384048"/>
          </a:xfrm>
          <a:prstGeom prst="roundRect">
            <a:avLst>
              <a:gd name="adj" fmla="val 14286"/>
            </a:avLst>
          </a:prstGeom>
          <a:solidFill>
            <a:srgbClr val="27374D"/>
          </a:solidFill>
          <a:ln w="12700">
            <a:solidFill>
              <a:srgbClr val="22A6B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927848" y="1604772"/>
            <a:ext cx="268833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2A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870" dirty="0"/>
          </a:p>
        </p:txBody>
      </p:sp>
      <p:sp>
        <p:nvSpPr>
          <p:cNvPr id="10" name="Shape 8"/>
          <p:cNvSpPr/>
          <p:nvPr/>
        </p:nvSpPr>
        <p:spPr>
          <a:xfrm>
            <a:off x="9272016" y="1901952"/>
            <a:ext cx="0" cy="146304"/>
          </a:xfrm>
          <a:prstGeom prst="line">
            <a:avLst/>
          </a:prstGeom>
          <a:noFill/>
          <a:ln w="22860">
            <a:solidFill>
              <a:srgbClr val="8090A3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7818120" y="2093976"/>
            <a:ext cx="2907792" cy="384048"/>
          </a:xfrm>
          <a:prstGeom prst="roundRect">
            <a:avLst>
              <a:gd name="adj" fmla="val 14286"/>
            </a:avLst>
          </a:prstGeom>
          <a:solidFill>
            <a:srgbClr val="27374D"/>
          </a:solidFill>
          <a:ln w="12700">
            <a:solidFill>
              <a:srgbClr val="3D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927848" y="2189988"/>
            <a:ext cx="268833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3D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Intent parser</a:t>
            </a:r>
            <a:endParaRPr lang="en-US" sz="870" dirty="0"/>
          </a:p>
        </p:txBody>
      </p:sp>
      <p:sp>
        <p:nvSpPr>
          <p:cNvPr id="13" name="Shape 11"/>
          <p:cNvSpPr/>
          <p:nvPr/>
        </p:nvSpPr>
        <p:spPr>
          <a:xfrm>
            <a:off x="9272016" y="2487168"/>
            <a:ext cx="0" cy="146304"/>
          </a:xfrm>
          <a:prstGeom prst="line">
            <a:avLst/>
          </a:prstGeom>
          <a:noFill/>
          <a:ln w="22860">
            <a:solidFill>
              <a:srgbClr val="8090A3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7818120" y="2679192"/>
            <a:ext cx="2907792" cy="384048"/>
          </a:xfrm>
          <a:prstGeom prst="roundRect">
            <a:avLst>
              <a:gd name="adj" fmla="val 14286"/>
            </a:avLst>
          </a:prstGeom>
          <a:solidFill>
            <a:srgbClr val="27374D"/>
          </a:solidFill>
          <a:ln w="12700">
            <a:solidFill>
              <a:srgbClr val="D5893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27848" y="2775204"/>
            <a:ext cx="268833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D589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paths</a:t>
            </a:r>
            <a:endParaRPr lang="en-US" sz="870" dirty="0"/>
          </a:p>
        </p:txBody>
      </p:sp>
      <p:sp>
        <p:nvSpPr>
          <p:cNvPr id="16" name="Shape 14"/>
          <p:cNvSpPr/>
          <p:nvPr/>
        </p:nvSpPr>
        <p:spPr>
          <a:xfrm>
            <a:off x="9272016" y="3072384"/>
            <a:ext cx="0" cy="146304"/>
          </a:xfrm>
          <a:prstGeom prst="line">
            <a:avLst/>
          </a:prstGeom>
          <a:noFill/>
          <a:ln w="22860">
            <a:solidFill>
              <a:srgbClr val="8090A3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818120" y="3264408"/>
            <a:ext cx="2907792" cy="384048"/>
          </a:xfrm>
          <a:prstGeom prst="roundRect">
            <a:avLst>
              <a:gd name="adj" fmla="val 14286"/>
            </a:avLst>
          </a:prstGeom>
          <a:solidFill>
            <a:srgbClr val="27374D"/>
          </a:solidFill>
          <a:ln w="12700">
            <a:solidFill>
              <a:srgbClr val="7B4AB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927848" y="3360420"/>
            <a:ext cx="268833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7B4A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fallback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9272016" y="3657600"/>
            <a:ext cx="0" cy="146304"/>
          </a:xfrm>
          <a:prstGeom prst="line">
            <a:avLst/>
          </a:prstGeom>
          <a:noFill/>
          <a:ln w="22860">
            <a:solidFill>
              <a:srgbClr val="8090A3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7818120" y="3849624"/>
            <a:ext cx="2907792" cy="384048"/>
          </a:xfrm>
          <a:prstGeom prst="roundRect">
            <a:avLst>
              <a:gd name="adj" fmla="val 14286"/>
            </a:avLst>
          </a:prstGeom>
          <a:solidFill>
            <a:srgbClr val="27374D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927848" y="3945636"/>
            <a:ext cx="268833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C44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AQL</a:t>
            </a:r>
            <a:endParaRPr lang="en-US" sz="870" dirty="0"/>
          </a:p>
        </p:txBody>
      </p:sp>
      <p:sp>
        <p:nvSpPr>
          <p:cNvPr id="22" name="Shape 20"/>
          <p:cNvSpPr/>
          <p:nvPr/>
        </p:nvSpPr>
        <p:spPr>
          <a:xfrm>
            <a:off x="9272016" y="4242816"/>
            <a:ext cx="0" cy="146304"/>
          </a:xfrm>
          <a:prstGeom prst="line">
            <a:avLst/>
          </a:prstGeom>
          <a:noFill/>
          <a:ln w="22860">
            <a:solidFill>
              <a:srgbClr val="8090A3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7818120" y="4434840"/>
            <a:ext cx="2907792" cy="384048"/>
          </a:xfrm>
          <a:prstGeom prst="roundRect">
            <a:avLst>
              <a:gd name="adj" fmla="val 14286"/>
            </a:avLst>
          </a:prstGeom>
          <a:solidFill>
            <a:srgbClr val="27374D"/>
          </a:solidFill>
          <a:ln w="12700">
            <a:solidFill>
              <a:srgbClr val="225B93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927848" y="4530852"/>
            <a:ext cx="2688336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70" b="1" dirty="0">
                <a:solidFill>
                  <a:srgbClr val="225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evidence</a:t>
            </a:r>
            <a:endParaRPr lang="en-US" sz="870" dirty="0"/>
          </a:p>
        </p:txBody>
      </p:sp>
      <p:sp>
        <p:nvSpPr>
          <p:cNvPr id="25" name="Text 23"/>
          <p:cNvSpPr/>
          <p:nvPr/>
        </p:nvSpPr>
        <p:spPr>
          <a:xfrm>
            <a:off x="658368" y="4892040"/>
            <a:ext cx="15544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A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Core message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874520" y="4892040"/>
            <a:ext cx="640080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LLM is a schema-grounded planner of last resort, not the primary execution engine.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NLM Cell Knowledge Network  |  Ask a Question planner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02336"/>
            <a:ext cx="164592" cy="164592"/>
          </a:xfrm>
          <a:prstGeom prst="rect">
            <a:avLst/>
          </a:prstGeom>
          <a:solidFill>
            <a:srgbClr val="225B93"/>
          </a:solidFill>
          <a:ln w="12700">
            <a:solidFill>
              <a:srgbClr val="225B9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3611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END-TO-END FLOW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Ask pipeline turns language into graph-shaped evidence.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9784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result object powers the chat answer, table, graph, suggestions, refinement memory, and export.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621792" y="2148840"/>
            <a:ext cx="1847088" cy="187452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CCD3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86384" y="2359152"/>
            <a:ext cx="2560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225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1124712" y="2395728"/>
            <a:ext cx="1005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804672" y="2907792"/>
            <a:ext cx="1417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User asks a biomedical question in plain English.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2496312" y="3072384"/>
            <a:ext cx="301752" cy="0"/>
          </a:xfrm>
          <a:prstGeom prst="line">
            <a:avLst/>
          </a:prstGeom>
          <a:noFill/>
          <a:ln w="22860">
            <a:solidFill>
              <a:srgbClr val="5C6778"/>
            </a:solidFill>
            <a:prstDash val="solid"/>
            <a:headEnd type="none"/>
            <a:tailEnd type="triangle"/>
          </a:ln>
        </p:spPr>
      </p:sp>
      <p:sp>
        <p:nvSpPr>
          <p:cNvPr id="12" name="Shape 10"/>
          <p:cNvSpPr/>
          <p:nvPr/>
        </p:nvSpPr>
        <p:spPr>
          <a:xfrm>
            <a:off x="2907792" y="2148840"/>
            <a:ext cx="1847088" cy="1874520"/>
          </a:xfrm>
          <a:prstGeom prst="roundRect">
            <a:avLst>
              <a:gd name="adj" fmla="val 2970"/>
            </a:avLst>
          </a:prstGeom>
          <a:solidFill>
            <a:srgbClr val="EAF2FA"/>
          </a:solidFill>
          <a:ln w="12700">
            <a:solidFill>
              <a:srgbClr val="B7CAE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072384" y="2359152"/>
            <a:ext cx="2560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D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3410712" y="2395728"/>
            <a:ext cx="1005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3090672" y="2907792"/>
            <a:ext cx="1417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follow-up, deterministic traversal, AI, or fallback.</a:t>
            </a:r>
            <a:endParaRPr lang="en-US" sz="940" dirty="0"/>
          </a:p>
        </p:txBody>
      </p:sp>
      <p:sp>
        <p:nvSpPr>
          <p:cNvPr id="16" name="Shape 14"/>
          <p:cNvSpPr/>
          <p:nvPr/>
        </p:nvSpPr>
        <p:spPr>
          <a:xfrm>
            <a:off x="4782312" y="3072384"/>
            <a:ext cx="301752" cy="0"/>
          </a:xfrm>
          <a:prstGeom prst="line">
            <a:avLst/>
          </a:prstGeom>
          <a:noFill/>
          <a:ln w="22860">
            <a:solidFill>
              <a:srgbClr val="5C6778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5193792" y="2148840"/>
            <a:ext cx="1847088" cy="187452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CCD3DA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358384" y="2359152"/>
            <a:ext cx="2560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C44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5696712" y="2395728"/>
            <a:ext cx="1005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5376672" y="2907792"/>
            <a:ext cx="1417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 AQL and block write/system operations.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7068312" y="3072384"/>
            <a:ext cx="301752" cy="0"/>
          </a:xfrm>
          <a:prstGeom prst="line">
            <a:avLst/>
          </a:prstGeom>
          <a:noFill/>
          <a:ln w="22860">
            <a:solidFill>
              <a:srgbClr val="5C6778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7479792" y="2148840"/>
            <a:ext cx="1847088" cy="1874520"/>
          </a:xfrm>
          <a:prstGeom prst="roundRect">
            <a:avLst>
              <a:gd name="adj" fmla="val 2970"/>
            </a:avLst>
          </a:prstGeom>
          <a:solidFill>
            <a:srgbClr val="EAF2FA"/>
          </a:solidFill>
          <a:ln w="12700">
            <a:solidFill>
              <a:srgbClr val="B7CAE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644384" y="2359152"/>
            <a:ext cx="2560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D589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7982712" y="2395728"/>
            <a:ext cx="1005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Execute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7662672" y="2907792"/>
            <a:ext cx="1417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against ontology + phenotype graphs in auto mode.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9354312" y="3072384"/>
            <a:ext cx="301752" cy="0"/>
          </a:xfrm>
          <a:prstGeom prst="line">
            <a:avLst/>
          </a:prstGeom>
          <a:noFill/>
          <a:ln w="22860">
            <a:solidFill>
              <a:srgbClr val="5C6778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765792" y="2148840"/>
            <a:ext cx="1847088" cy="1874520"/>
          </a:xfrm>
          <a:prstGeom prst="roundRect">
            <a:avLst>
              <a:gd name="adj" fmla="val 2970"/>
            </a:avLst>
          </a:prstGeom>
          <a:solidFill>
            <a:srgbClr val="FFFFFF"/>
          </a:solidFill>
          <a:ln w="12700">
            <a:solidFill>
              <a:srgbClr val="CCD3DA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9930384" y="2359152"/>
            <a:ext cx="256032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7B4A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700" dirty="0"/>
          </a:p>
        </p:txBody>
      </p:sp>
      <p:sp>
        <p:nvSpPr>
          <p:cNvPr id="29" name="Text 27"/>
          <p:cNvSpPr/>
          <p:nvPr/>
        </p:nvSpPr>
        <p:spPr>
          <a:xfrm>
            <a:off x="10268712" y="2395728"/>
            <a:ext cx="1005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Shape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9948672" y="2907792"/>
            <a:ext cx="1417320" cy="6583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Extract rows, nodes, links, paths, labels, suggestions.</a:t>
            </a:r>
            <a:endParaRPr lang="en-US" sz="940" dirty="0"/>
          </a:p>
        </p:txBody>
      </p:sp>
      <p:sp>
        <p:nvSpPr>
          <p:cNvPr id="31" name="Text 29"/>
          <p:cNvSpPr/>
          <p:nvPr/>
        </p:nvSpPr>
        <p:spPr>
          <a:xfrm>
            <a:off x="749808" y="5102352"/>
            <a:ext cx="173736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Returned payload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2240280" y="5102352"/>
            <a:ext cx="78638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C6778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 answer, aql, bind_vars, rows, nodes, links, graph, suggested_questions }</a:t>
            </a:r>
            <a:endParaRPr lang="en-US" sz="1120" dirty="0"/>
          </a:p>
        </p:txBody>
      </p:sp>
      <p:sp>
        <p:nvSpPr>
          <p:cNvPr id="33" name="Text 31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NLM Cell Knowledge Network  |  Ask a Question planner</a:t>
            </a:r>
            <a:endParaRPr lang="en-US" sz="680" dirty="0"/>
          </a:p>
        </p:txBody>
      </p:sp>
      <p:sp>
        <p:nvSpPr>
          <p:cNvPr id="34" name="Text 32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02336"/>
            <a:ext cx="164592" cy="164592"/>
          </a:xfrm>
          <a:prstGeom prst="rect">
            <a:avLst/>
          </a:prstGeom>
          <a:solidFill>
            <a:srgbClr val="3D8B57"/>
          </a:solidFill>
          <a:ln w="12700">
            <a:solidFill>
              <a:srgbClr val="3D8B5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3611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PLANNER CASCADE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Deterministic plans get first refusal.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9784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backend tries increasingly flexible planners before asking OpenAI to generate AQL.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713232" y="1764792"/>
            <a:ext cx="384048" cy="384048"/>
          </a:xfrm>
          <a:prstGeom prst="ellipse">
            <a:avLst/>
          </a:prstGeom>
          <a:solidFill>
            <a:srgbClr val="22A6B3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32104" y="1847088"/>
            <a:ext cx="14630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1280160" y="1746504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Refine plan</a:t>
            </a:r>
            <a:endParaRPr lang="en-US" sz="1240" dirty="0"/>
          </a:p>
        </p:txBody>
      </p:sp>
      <p:sp>
        <p:nvSpPr>
          <p:cNvPr id="10" name="Text 8"/>
          <p:cNvSpPr/>
          <p:nvPr/>
        </p:nvSpPr>
        <p:spPr>
          <a:xfrm>
            <a:off x="1280160" y="2075688"/>
            <a:ext cx="3291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graph context is used when mode=refine.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713232" y="2551176"/>
            <a:ext cx="384048" cy="384048"/>
          </a:xfrm>
          <a:prstGeom prst="ellipse">
            <a:avLst/>
          </a:prstGeom>
          <a:solidFill>
            <a:srgbClr val="3D8B57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832104" y="2633472"/>
            <a:ext cx="14630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280160" y="2532888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Traversal plan</a:t>
            </a:r>
            <a:endParaRPr lang="en-US" sz="1240" dirty="0"/>
          </a:p>
        </p:txBody>
      </p:sp>
      <p:sp>
        <p:nvSpPr>
          <p:cNvPr id="14" name="Text 12"/>
          <p:cNvSpPr/>
          <p:nvPr/>
        </p:nvSpPr>
        <p:spPr>
          <a:xfrm>
            <a:off x="1280160" y="2862072"/>
            <a:ext cx="3291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Hard-coded biomedical paths: disease-gene-cell, drug-trial, cell-dataset.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713232" y="3337560"/>
            <a:ext cx="384048" cy="384048"/>
          </a:xfrm>
          <a:prstGeom prst="ellipse">
            <a:avLst/>
          </a:prstGeom>
          <a:solidFill>
            <a:srgbClr val="D5893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832104" y="3419856"/>
            <a:ext cx="14630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1280160" y="3319272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Collection label search</a:t>
            </a:r>
            <a:endParaRPr lang="en-US" sz="1240" dirty="0"/>
          </a:p>
        </p:txBody>
      </p:sp>
      <p:sp>
        <p:nvSpPr>
          <p:cNvPr id="18" name="Text 16"/>
          <p:cNvSpPr/>
          <p:nvPr/>
        </p:nvSpPr>
        <p:spPr>
          <a:xfrm>
            <a:off x="1280160" y="3648456"/>
            <a:ext cx="3291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Explicit collection + label contains queries.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713232" y="4123944"/>
            <a:ext cx="384048" cy="384048"/>
          </a:xfrm>
          <a:prstGeom prst="ellipse">
            <a:avLst/>
          </a:prstGeom>
          <a:solidFill>
            <a:srgbClr val="7B4AB2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2104" y="4206240"/>
            <a:ext cx="14630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280160" y="4105656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AQL</a:t>
            </a:r>
            <a:endParaRPr lang="en-US" sz="1240" dirty="0"/>
          </a:p>
        </p:txBody>
      </p:sp>
      <p:sp>
        <p:nvSpPr>
          <p:cNvPr id="22" name="Text 20"/>
          <p:cNvSpPr/>
          <p:nvPr/>
        </p:nvSpPr>
        <p:spPr>
          <a:xfrm>
            <a:off x="1280160" y="4434840"/>
            <a:ext cx="3291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Schema-grounded JSON AQL only when heuristics do not match.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713232" y="4910328"/>
            <a:ext cx="384048" cy="384048"/>
          </a:xfrm>
          <a:prstGeom prst="ellipse">
            <a:avLst/>
          </a:prstGeom>
          <a:solidFill>
            <a:srgbClr val="C44536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832104" y="4992624"/>
            <a:ext cx="146304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1280160" y="4892040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Fallback / recovery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1280160" y="5221224"/>
            <a:ext cx="329184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4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Broad search or deterministic retry when AQL fails or returns zero rows.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7635240" y="1691640"/>
            <a:ext cx="3566160" cy="3566160"/>
          </a:xfrm>
          <a:prstGeom prst="roundRect">
            <a:avLst>
              <a:gd name="adj" fmla="val 1538"/>
            </a:avLst>
          </a:prstGeom>
          <a:solidFill>
            <a:srgbClr val="223043"/>
          </a:solidFill>
          <a:ln w="12700">
            <a:solidFill>
              <a:srgbClr val="22304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7936992" y="1993392"/>
            <a:ext cx="2194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this order?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7936992" y="2587752"/>
            <a:ext cx="2670048" cy="10515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D7E1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CKN paths are faster, easier to validate, and easier to explain than generated AQL. The model handles the long tail only after local planning fails.</a:t>
            </a:r>
            <a:endParaRPr lang="en-US" sz="1120" dirty="0"/>
          </a:p>
        </p:txBody>
      </p:sp>
      <p:sp>
        <p:nvSpPr>
          <p:cNvPr id="30" name="Text 28"/>
          <p:cNvSpPr/>
          <p:nvPr/>
        </p:nvSpPr>
        <p:spPr>
          <a:xfrm>
            <a:off x="7936992" y="4041648"/>
            <a:ext cx="21945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22A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invariant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7936992" y="4526280"/>
            <a:ext cx="2615184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80" dirty="0">
                <a:solidFill>
                  <a:srgbClr val="D7E1E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plan, including model output, is validated as read-only before execution.</a:t>
            </a:r>
            <a:endParaRPr lang="en-US" sz="1080" dirty="0"/>
          </a:p>
        </p:txBody>
      </p:sp>
      <p:sp>
        <p:nvSpPr>
          <p:cNvPr id="32" name="Text 30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NLM Cell Knowledge Network  |  Ask a Question planner</a:t>
            </a:r>
            <a:endParaRPr lang="en-US" sz="680" dirty="0"/>
          </a:p>
        </p:txBody>
      </p:sp>
      <p:sp>
        <p:nvSpPr>
          <p:cNvPr id="33" name="Text 31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02336"/>
            <a:ext cx="164592" cy="164592"/>
          </a:xfrm>
          <a:prstGeom prst="rect">
            <a:avLst/>
          </a:prstGeom>
          <a:solidFill>
            <a:srgbClr val="D58936"/>
          </a:solidFill>
          <a:ln w="12700">
            <a:solidFill>
              <a:srgbClr val="D5893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3611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TRAVERSALS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Common biomedical intents map to explicit graph paths.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9784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These are local AQL templates with bind variables and graph-ready returned nodes and edges.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713232" y="1874520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225B93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96112" y="2011680"/>
            <a:ext cx="1417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225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genes for disease</a:t>
            </a:r>
            <a:endParaRPr lang="en-US" sz="1120" dirty="0"/>
          </a:p>
        </p:txBody>
      </p:sp>
      <p:sp>
        <p:nvSpPr>
          <p:cNvPr id="9" name="Text 7"/>
          <p:cNvSpPr/>
          <p:nvPr/>
        </p:nvSpPr>
        <p:spPr>
          <a:xfrm>
            <a:off x="2395728" y="2011680"/>
            <a:ext cx="2743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MONDO &lt;- GS-MONDO &lt;- GS</a:t>
            </a:r>
            <a:endParaRPr lang="en-US" sz="880" dirty="0"/>
          </a:p>
        </p:txBody>
      </p:sp>
      <p:sp>
        <p:nvSpPr>
          <p:cNvPr id="10" name="Shape 8"/>
          <p:cNvSpPr/>
          <p:nvPr/>
        </p:nvSpPr>
        <p:spPr>
          <a:xfrm>
            <a:off x="6199632" y="1874520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3D8B5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382512" y="2011680"/>
            <a:ext cx="1417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3D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cells for disease</a:t>
            </a:r>
            <a:endParaRPr lang="en-US" sz="1120" dirty="0"/>
          </a:p>
        </p:txBody>
      </p:sp>
      <p:sp>
        <p:nvSpPr>
          <p:cNvPr id="12" name="Text 10"/>
          <p:cNvSpPr/>
          <p:nvPr/>
        </p:nvSpPr>
        <p:spPr>
          <a:xfrm>
            <a:off x="7882128" y="2011680"/>
            <a:ext cx="2743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MONDO &lt;- GS-MONDO &lt;- GS &lt;- CL-GS &lt;- CL</a:t>
            </a:r>
            <a:endParaRPr lang="en-US" sz="880" dirty="0"/>
          </a:p>
        </p:txBody>
      </p:sp>
      <p:sp>
        <p:nvSpPr>
          <p:cNvPr id="13" name="Shape 11"/>
          <p:cNvSpPr/>
          <p:nvPr/>
        </p:nvSpPr>
        <p:spPr>
          <a:xfrm>
            <a:off x="713232" y="2898648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7B4AB2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96112" y="3035808"/>
            <a:ext cx="1417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7B4A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drugs for disease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2395728" y="3035808"/>
            <a:ext cx="2743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MONDO &lt;- GS-MONDO &lt;- GS &lt;- CHEMBL-GS &lt;- CHEMBL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6199632" y="2898648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A23E8C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82512" y="3035808"/>
            <a:ext cx="1417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A23E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trials for disease</a:t>
            </a:r>
            <a:endParaRPr lang="en-US" sz="1120" dirty="0"/>
          </a:p>
        </p:txBody>
      </p:sp>
      <p:sp>
        <p:nvSpPr>
          <p:cNvPr id="18" name="Text 16"/>
          <p:cNvSpPr/>
          <p:nvPr/>
        </p:nvSpPr>
        <p:spPr>
          <a:xfrm>
            <a:off x="7882128" y="3035808"/>
            <a:ext cx="2743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MONDO -&gt; drug/gene routes -&gt; CHEMBL-NCT -&gt; NCT</a:t>
            </a:r>
            <a:endParaRPr lang="en-US" sz="880" dirty="0"/>
          </a:p>
        </p:txBody>
      </p:sp>
      <p:sp>
        <p:nvSpPr>
          <p:cNvPr id="19" name="Shape 17"/>
          <p:cNvSpPr/>
          <p:nvPr/>
        </p:nvSpPr>
        <p:spPr>
          <a:xfrm>
            <a:off x="713232" y="3922776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D58936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6112" y="4059936"/>
            <a:ext cx="1417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D589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datasets for cell</a:t>
            </a:r>
            <a:endParaRPr lang="en-US" sz="1120" dirty="0"/>
          </a:p>
        </p:txBody>
      </p:sp>
      <p:sp>
        <p:nvSpPr>
          <p:cNvPr id="21" name="Text 19"/>
          <p:cNvSpPr/>
          <p:nvPr/>
        </p:nvSpPr>
        <p:spPr>
          <a:xfrm>
            <a:off x="2395728" y="4059936"/>
            <a:ext cx="2743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CL -&gt; CL-CSD -&gt; CSD</a:t>
            </a:r>
            <a:endParaRPr lang="en-US" sz="880" dirty="0"/>
          </a:p>
        </p:txBody>
      </p:sp>
      <p:sp>
        <p:nvSpPr>
          <p:cNvPr id="22" name="Shape 20"/>
          <p:cNvSpPr/>
          <p:nvPr/>
        </p:nvSpPr>
        <p:spPr>
          <a:xfrm>
            <a:off x="6199632" y="3922776"/>
            <a:ext cx="4800600" cy="713232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5240">
            <a:solidFill>
              <a:srgbClr val="C44536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382512" y="4059936"/>
            <a:ext cx="141732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b="1" dirty="0">
                <a:solidFill>
                  <a:srgbClr val="C44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cell sets for anatomy</a:t>
            </a:r>
            <a:endParaRPr lang="en-US" sz="1120" dirty="0"/>
          </a:p>
        </p:txBody>
      </p:sp>
      <p:sp>
        <p:nvSpPr>
          <p:cNvPr id="24" name="Text 22"/>
          <p:cNvSpPr/>
          <p:nvPr/>
        </p:nvSpPr>
        <p:spPr>
          <a:xfrm>
            <a:off x="7882128" y="4059936"/>
            <a:ext cx="274320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6212F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UBERON &lt;- CS-UBERON &lt;- CS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749808" y="5394960"/>
            <a:ext cx="14630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prompt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2011680" y="5394960"/>
            <a:ext cx="886968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7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“what are the genes associated with alzheimers?” -&gt; MONDO term match -&gt; GS-MONDO inbound genes -&gt; rows + nodes + edges</a:t>
            </a:r>
            <a:endParaRPr lang="en-US" sz="1070" dirty="0"/>
          </a:p>
        </p:txBody>
      </p:sp>
      <p:sp>
        <p:nvSpPr>
          <p:cNvPr id="27" name="Text 25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NLM Cell Knowledge Network  |  Ask a Question planner</a:t>
            </a:r>
            <a:endParaRPr lang="en-US" sz="680" dirty="0"/>
          </a:p>
        </p:txBody>
      </p:sp>
      <p:sp>
        <p:nvSpPr>
          <p:cNvPr id="28" name="Text 26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02336"/>
            <a:ext cx="164592" cy="164592"/>
          </a:xfrm>
          <a:prstGeom prst="rect">
            <a:avLst/>
          </a:prstGeom>
          <a:solidFill>
            <a:srgbClr val="22A6B3"/>
          </a:solidFill>
          <a:ln w="12700">
            <a:solidFill>
              <a:srgbClr val="22A6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3611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 EXPANSION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Entity matching uses normalized terms and UMLS candidates.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9784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prompt term becomes bind variables, not string-concatenated AQL.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713232" y="1874520"/>
            <a:ext cx="2926080" cy="2926080"/>
          </a:xfrm>
          <a:prstGeom prst="roundRect">
            <a:avLst>
              <a:gd name="adj" fmla="val 1875"/>
            </a:avLst>
          </a:prstGeom>
          <a:solidFill>
            <a:srgbClr val="FFFFFF"/>
          </a:solidFill>
          <a:ln w="12700">
            <a:solidFill>
              <a:srgbClr val="CCD3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960120" y="2148840"/>
            <a:ext cx="9144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25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960120" y="2697480"/>
            <a:ext cx="20574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are the genes associated with alzheimers?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3794760" y="3291840"/>
            <a:ext cx="685800" cy="0"/>
          </a:xfrm>
          <a:prstGeom prst="line">
            <a:avLst/>
          </a:prstGeom>
          <a:noFill/>
          <a:ln w="22860">
            <a:solidFill>
              <a:srgbClr val="5C6778"/>
            </a:solidFill>
            <a:prstDash val="solid"/>
            <a:headEnd type="none"/>
            <a:tailEnd type="triangle"/>
          </a:ln>
        </p:spPr>
      </p:sp>
      <p:sp>
        <p:nvSpPr>
          <p:cNvPr id="11" name="Shape 9"/>
          <p:cNvSpPr/>
          <p:nvPr/>
        </p:nvSpPr>
        <p:spPr>
          <a:xfrm>
            <a:off x="4617720" y="1627632"/>
            <a:ext cx="3063240" cy="3429000"/>
          </a:xfrm>
          <a:prstGeom prst="roundRect">
            <a:avLst>
              <a:gd name="adj" fmla="val 1791"/>
            </a:avLst>
          </a:prstGeom>
          <a:solidFill>
            <a:srgbClr val="EAF2FA"/>
          </a:solidFill>
          <a:ln w="12700">
            <a:solidFill>
              <a:srgbClr val="B7CAE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92040" y="1874520"/>
            <a:ext cx="1097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225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@terms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892040" y="2331720"/>
            <a:ext cx="23774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alzheimers</a:t>
            </a:r>
            <a:endParaRPr lang="en-US" sz="960" dirty="0"/>
          </a:p>
        </p:txBody>
      </p:sp>
      <p:sp>
        <p:nvSpPr>
          <p:cNvPr id="14" name="Text 12"/>
          <p:cNvSpPr/>
          <p:nvPr/>
        </p:nvSpPr>
        <p:spPr>
          <a:xfrm>
            <a:off x="4892040" y="2715768"/>
            <a:ext cx="23774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alzheimer</a:t>
            </a:r>
            <a:endParaRPr lang="en-US" sz="960" dirty="0"/>
          </a:p>
        </p:txBody>
      </p:sp>
      <p:sp>
        <p:nvSpPr>
          <p:cNvPr id="15" name="Text 13"/>
          <p:cNvSpPr/>
          <p:nvPr/>
        </p:nvSpPr>
        <p:spPr>
          <a:xfrm>
            <a:off x="4892040" y="3099816"/>
            <a:ext cx="23774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Alzheimer's Disease</a:t>
            </a:r>
            <a:endParaRPr lang="en-US" sz="960" dirty="0"/>
          </a:p>
        </p:txBody>
      </p:sp>
      <p:sp>
        <p:nvSpPr>
          <p:cNvPr id="16" name="Text 14"/>
          <p:cNvSpPr/>
          <p:nvPr/>
        </p:nvSpPr>
        <p:spPr>
          <a:xfrm>
            <a:off x="4892040" y="3483864"/>
            <a:ext cx="23774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Alzheimer Disease, Early Onset</a:t>
            </a:r>
            <a:endParaRPr lang="en-US" sz="960" dirty="0"/>
          </a:p>
        </p:txBody>
      </p:sp>
      <p:sp>
        <p:nvSpPr>
          <p:cNvPr id="17" name="Text 15"/>
          <p:cNvSpPr/>
          <p:nvPr/>
        </p:nvSpPr>
        <p:spPr>
          <a:xfrm>
            <a:off x="4892040" y="3867912"/>
            <a:ext cx="237744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960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Alzheimer Disease, Late Onset</a:t>
            </a:r>
            <a:endParaRPr lang="en-US" sz="960" dirty="0"/>
          </a:p>
        </p:txBody>
      </p:sp>
      <p:sp>
        <p:nvSpPr>
          <p:cNvPr id="18" name="Shape 16"/>
          <p:cNvSpPr/>
          <p:nvPr/>
        </p:nvSpPr>
        <p:spPr>
          <a:xfrm>
            <a:off x="7818120" y="3291840"/>
            <a:ext cx="667512" cy="0"/>
          </a:xfrm>
          <a:prstGeom prst="line">
            <a:avLst/>
          </a:prstGeom>
          <a:noFill/>
          <a:ln w="22860">
            <a:solidFill>
              <a:srgbClr val="5C6778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8641080" y="1874520"/>
            <a:ext cx="2606040" cy="2926080"/>
          </a:xfrm>
          <a:prstGeom prst="roundRect">
            <a:avLst>
              <a:gd name="adj" fmla="val 2105"/>
            </a:avLst>
          </a:prstGeom>
          <a:solidFill>
            <a:srgbClr val="FFFFFF"/>
          </a:solidFill>
          <a:ln w="12700">
            <a:solidFill>
              <a:srgbClr val="CCD3D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915400" y="2148840"/>
            <a:ext cx="137160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D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AQL filter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915400" y="2697480"/>
            <a:ext cx="1783080" cy="11430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2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MATCH disease._id, label, definition, exact_synonym, hasExactSynonym, hasRelatedSynonym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749808" y="5440680"/>
            <a:ext cx="813816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UMLS improves recall; later graph paths provide precision.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NLM Cell Knowledge Network  |  Ask a Question planner</a:t>
            </a:r>
            <a:endParaRPr lang="en-US" sz="680" dirty="0"/>
          </a:p>
        </p:txBody>
      </p:sp>
      <p:sp>
        <p:nvSpPr>
          <p:cNvPr id="24" name="Text 22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7F4EE"/>
          </a:solidFill>
          <a:ln w="12700">
            <a:solidFill>
              <a:srgbClr val="F7F4EE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02336"/>
            <a:ext cx="164592" cy="164592"/>
          </a:xfrm>
          <a:prstGeom prst="rect">
            <a:avLst/>
          </a:prstGeom>
          <a:solidFill>
            <a:srgbClr val="7B4AB2"/>
          </a:solidFill>
          <a:ln w="12700">
            <a:solidFill>
              <a:srgbClr val="7B4AB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3611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BOUNDARY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02920" y="713232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16212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OpenAI is used after heuristics, with live schema context.</a:t>
            </a:r>
            <a:endParaRPr lang="en-US" sz="2700" dirty="0"/>
          </a:p>
        </p:txBody>
      </p:sp>
      <p:sp>
        <p:nvSpPr>
          <p:cNvPr id="6" name="Text 4"/>
          <p:cNvSpPr/>
          <p:nvPr/>
        </p:nvSpPr>
        <p:spPr>
          <a:xfrm>
            <a:off x="530352" y="1417320"/>
            <a:ext cx="97840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is asked for a read-only AQL JSON object, not an answer hallucination.</a:t>
            </a:r>
            <a:endParaRPr lang="en-US" sz="1120" dirty="0"/>
          </a:p>
        </p:txBody>
      </p:sp>
      <p:sp>
        <p:nvSpPr>
          <p:cNvPr id="7" name="Shape 5"/>
          <p:cNvSpPr/>
          <p:nvPr/>
        </p:nvSpPr>
        <p:spPr>
          <a:xfrm>
            <a:off x="749808" y="1783080"/>
            <a:ext cx="3657600" cy="3520440"/>
          </a:xfrm>
          <a:prstGeom prst="roundRect">
            <a:avLst>
              <a:gd name="adj" fmla="val 1558"/>
            </a:avLst>
          </a:prstGeom>
          <a:solidFill>
            <a:srgbClr val="FFFFFF"/>
          </a:solidFill>
          <a:ln w="12700">
            <a:solidFill>
              <a:srgbClr val="CCD3D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005840" y="2057400"/>
            <a:ext cx="2377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7B4A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the model receives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1024128" y="254203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25B93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33856" y="2638044"/>
            <a:ext cx="238658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25B9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question</a:t>
            </a:r>
            <a:endParaRPr lang="en-US" sz="810" dirty="0"/>
          </a:p>
        </p:txBody>
      </p:sp>
      <p:sp>
        <p:nvSpPr>
          <p:cNvPr id="11" name="Shape 9"/>
          <p:cNvSpPr/>
          <p:nvPr/>
        </p:nvSpPr>
        <p:spPr>
          <a:xfrm>
            <a:off x="1024128" y="2935224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3D8B5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133856" y="3031236"/>
            <a:ext cx="238658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3D8B5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mode: new/refine</a:t>
            </a:r>
            <a:endParaRPr lang="en-US" sz="810" dirty="0"/>
          </a:p>
        </p:txBody>
      </p:sp>
      <p:sp>
        <p:nvSpPr>
          <p:cNvPr id="13" name="Shape 11"/>
          <p:cNvSpPr/>
          <p:nvPr/>
        </p:nvSpPr>
        <p:spPr>
          <a:xfrm>
            <a:off x="1024128" y="3328416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D5893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33856" y="3424428"/>
            <a:ext cx="238658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D589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recent result summaries</a:t>
            </a:r>
            <a:endParaRPr lang="en-US" sz="810" dirty="0"/>
          </a:p>
        </p:txBody>
      </p:sp>
      <p:sp>
        <p:nvSpPr>
          <p:cNvPr id="15" name="Shape 13"/>
          <p:cNvSpPr/>
          <p:nvPr/>
        </p:nvSpPr>
        <p:spPr>
          <a:xfrm>
            <a:off x="1024128" y="3721608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22A6B3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133856" y="3817620"/>
            <a:ext cx="238658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22A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collections + fields</a:t>
            </a:r>
            <a:endParaRPr lang="en-US" sz="810" dirty="0"/>
          </a:p>
        </p:txBody>
      </p:sp>
      <p:sp>
        <p:nvSpPr>
          <p:cNvPr id="17" name="Shape 15"/>
          <p:cNvSpPr/>
          <p:nvPr/>
        </p:nvSpPr>
        <p:spPr>
          <a:xfrm>
            <a:off x="1024128" y="4114800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133856" y="4210812"/>
            <a:ext cx="238658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C4453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graph edge definitions</a:t>
            </a:r>
            <a:endParaRPr lang="en-US" sz="810" dirty="0"/>
          </a:p>
        </p:txBody>
      </p:sp>
      <p:sp>
        <p:nvSpPr>
          <p:cNvPr id="19" name="Shape 17"/>
          <p:cNvSpPr/>
          <p:nvPr/>
        </p:nvSpPr>
        <p:spPr>
          <a:xfrm>
            <a:off x="1024128" y="4507992"/>
            <a:ext cx="2606040" cy="384048"/>
          </a:xfrm>
          <a:prstGeom prst="roundRect">
            <a:avLst>
              <a:gd name="adj" fmla="val 14286"/>
            </a:avLst>
          </a:prstGeom>
          <a:solidFill>
            <a:srgbClr val="FFFFFF"/>
          </a:solidFill>
          <a:ln w="12700">
            <a:solidFill>
              <a:srgbClr val="7B4AB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33856" y="4604004"/>
            <a:ext cx="2386584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810" b="1" dirty="0">
                <a:solidFill>
                  <a:srgbClr val="7B4AB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 for safe AQL</a:t>
            </a:r>
            <a:endParaRPr lang="en-US" sz="810" dirty="0"/>
          </a:p>
        </p:txBody>
      </p:sp>
      <p:sp>
        <p:nvSpPr>
          <p:cNvPr id="21" name="Shape 19"/>
          <p:cNvSpPr/>
          <p:nvPr/>
        </p:nvSpPr>
        <p:spPr>
          <a:xfrm>
            <a:off x="5486400" y="1783080"/>
            <a:ext cx="5440680" cy="3520440"/>
          </a:xfrm>
          <a:prstGeom prst="roundRect">
            <a:avLst>
              <a:gd name="adj" fmla="val 1558"/>
            </a:avLst>
          </a:prstGeom>
          <a:solidFill>
            <a:srgbClr val="223043"/>
          </a:solidFill>
          <a:ln w="12700">
            <a:solidFill>
              <a:srgbClr val="223043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806440" y="2057400"/>
            <a:ext cx="237744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model output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833872" y="2651760"/>
            <a:ext cx="2834640" cy="1325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600" dirty="0">
                <a:solidFill>
                  <a:srgbClr val="D7E1E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{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7E1E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"aql": "...",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7E1E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"bind_vars": { ... },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7E1E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  "answer": "..."</a:t>
            </a:r>
            <a:endParaRPr lang="en-US" sz="1600" dirty="0"/>
          </a:p>
          <a:p>
            <a:pPr algn="l" indent="0" marL="0">
              <a:buNone/>
            </a:pPr>
            <a:r>
              <a:rPr lang="en-US" sz="1600" dirty="0">
                <a:solidFill>
                  <a:srgbClr val="D7E1EC"/>
                </a:solidFill>
                <a:latin typeface="Aptos Mono" pitchFamily="34" charset="0"/>
                <a:ea typeface="Aptos Mono" pitchFamily="34" charset="-122"/>
                <a:cs typeface="Aptos Mono" pitchFamily="34" charset="-120"/>
              </a:rPr>
              <a:t>}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8796528" y="2697480"/>
            <a:ext cx="1600200" cy="8686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060" dirty="0">
                <a:solidFill>
                  <a:srgbClr val="22A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temperature = 0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22A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read-only AQL only</a:t>
            </a:r>
            <a:endParaRPr lang="en-US" sz="1060" dirty="0"/>
          </a:p>
          <a:p>
            <a:pPr algn="l" indent="0" marL="0">
              <a:buNone/>
            </a:pPr>
            <a:r>
              <a:rPr lang="en-US" sz="1060" dirty="0">
                <a:solidFill>
                  <a:srgbClr val="22A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validated before execution</a:t>
            </a:r>
            <a:endParaRPr lang="en-US" sz="1060" dirty="0"/>
          </a:p>
        </p:txBody>
      </p:sp>
      <p:sp>
        <p:nvSpPr>
          <p:cNvPr id="25" name="Text 23"/>
          <p:cNvSpPr/>
          <p:nvPr/>
        </p:nvSpPr>
        <p:spPr>
          <a:xfrm>
            <a:off x="804672" y="5623560"/>
            <a:ext cx="978408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240" b="1" dirty="0">
                <a:solidFill>
                  <a:srgbClr val="16212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If OpenAI fails or produces bad AQL, deterministic recovery is attempted before surfacing an error.</a:t>
            </a:r>
            <a:endParaRPr lang="en-US" sz="1240" dirty="0"/>
          </a:p>
        </p:txBody>
      </p:sp>
      <p:sp>
        <p:nvSpPr>
          <p:cNvPr id="26" name="Text 24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NLM Cell Knowledge Network  |  Ask a Question planner</a:t>
            </a:r>
            <a:endParaRPr lang="en-US" sz="680" dirty="0"/>
          </a:p>
        </p:txBody>
      </p:sp>
      <p:sp>
        <p:nvSpPr>
          <p:cNvPr id="27" name="Text 25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12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6212F"/>
          </a:solidFill>
          <a:ln w="12700">
            <a:solidFill>
              <a:srgbClr val="16212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530352" y="402336"/>
            <a:ext cx="164592" cy="164592"/>
          </a:xfrm>
          <a:prstGeom prst="rect">
            <a:avLst/>
          </a:prstGeom>
          <a:solidFill>
            <a:srgbClr val="22A6B3"/>
          </a:solidFill>
          <a:ln w="12700">
            <a:solidFill>
              <a:srgbClr val="22A6B3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86384" y="361188"/>
            <a:ext cx="43891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5C677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TAKEAWAY</a:t>
            </a:r>
            <a:endParaRPr lang="en-US" sz="850" dirty="0"/>
          </a:p>
        </p:txBody>
      </p:sp>
      <p:sp>
        <p:nvSpPr>
          <p:cNvPr id="5" name="Text 3"/>
          <p:cNvSpPr/>
          <p:nvPr/>
        </p:nvSpPr>
        <p:spPr>
          <a:xfrm>
            <a:off x="566928" y="868680"/>
            <a:ext cx="768096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graph reasoning surface, not a generic chatbot</a:t>
            </a:r>
            <a:endParaRPr lang="en-US" sz="3000" dirty="0"/>
          </a:p>
        </p:txBody>
      </p:sp>
      <p:sp>
        <p:nvSpPr>
          <p:cNvPr id="6" name="Shape 4"/>
          <p:cNvSpPr/>
          <p:nvPr/>
        </p:nvSpPr>
        <p:spPr>
          <a:xfrm>
            <a:off x="749808" y="1709928"/>
            <a:ext cx="137160" cy="137160"/>
          </a:xfrm>
          <a:prstGeom prst="rect">
            <a:avLst/>
          </a:prstGeom>
          <a:solidFill>
            <a:srgbClr val="22A6B3"/>
          </a:solidFill>
          <a:ln w="12700">
            <a:solidFill>
              <a:srgbClr val="22A6B3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1024128" y="1627632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Deterministic first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2999232" y="1636776"/>
            <a:ext cx="6583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7D1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Known CKN paths are encoded as explainable AQL templates.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49808" y="2468880"/>
            <a:ext cx="137160" cy="137160"/>
          </a:xfrm>
          <a:prstGeom prst="rect">
            <a:avLst/>
          </a:prstGeom>
          <a:solidFill>
            <a:srgbClr val="7B4AB2"/>
          </a:solidFill>
          <a:ln w="12700">
            <a:solidFill>
              <a:srgbClr val="7B4AB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24128" y="2386584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for the long tail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999232" y="2395728"/>
            <a:ext cx="6583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7D1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OpenAI proposes AQL only when local planners do not match.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749808" y="3227832"/>
            <a:ext cx="137160" cy="137160"/>
          </a:xfrm>
          <a:prstGeom prst="rect">
            <a:avLst/>
          </a:prstGeom>
          <a:solidFill>
            <a:srgbClr val="D58936"/>
          </a:solidFill>
          <a:ln w="12700">
            <a:solidFill>
              <a:srgbClr val="D5893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024128" y="3145536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Schema-grounded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2999232" y="3154680"/>
            <a:ext cx="6583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7D1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Live Arango collections, fields, and edge definitions constrain planning.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749808" y="3986784"/>
            <a:ext cx="137160" cy="137160"/>
          </a:xfrm>
          <a:prstGeom prst="rect">
            <a:avLst/>
          </a:prstGeom>
          <a:solidFill>
            <a:srgbClr val="C44536"/>
          </a:solidFill>
          <a:ln w="12700">
            <a:solidFill>
              <a:srgbClr val="C44536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024128" y="3904488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Safety checked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2999232" y="3913632"/>
            <a:ext cx="6583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7D1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AQL is validated read-only before execution.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749808" y="4745736"/>
            <a:ext cx="137160" cy="137160"/>
          </a:xfrm>
          <a:prstGeom prst="rect">
            <a:avLst/>
          </a:prstGeom>
          <a:solidFill>
            <a:srgbClr val="3D8B57"/>
          </a:solidFill>
          <a:ln w="12700">
            <a:solidFill>
              <a:srgbClr val="3D8B57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24128" y="4663440"/>
            <a:ext cx="210312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returned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2999232" y="4672584"/>
            <a:ext cx="65836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150" dirty="0">
                <a:solidFill>
                  <a:srgbClr val="C7D1D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Answers carry rows, nodes, links, paths, and suggestions.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777240" y="5852160"/>
            <a:ext cx="932688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algn="l" indent="0" marL="0">
              <a:buNone/>
            </a:pPr>
            <a:r>
              <a:rPr lang="en-US" sz="1500" b="1" dirty="0">
                <a:solidFill>
                  <a:srgbClr val="22A6B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Design principle: let the model help plan, but let the graph schema, validators, and result evidence keep the system honest.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02920" y="6510528"/>
            <a:ext cx="68580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80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NLM Cell Knowledge Network  |  Ask a Question planner</a:t>
            </a:r>
            <a:endParaRPr lang="en-US" sz="680" dirty="0"/>
          </a:p>
        </p:txBody>
      </p:sp>
      <p:sp>
        <p:nvSpPr>
          <p:cNvPr id="23" name="Text 21"/>
          <p:cNvSpPr/>
          <p:nvPr/>
        </p:nvSpPr>
        <p:spPr>
          <a:xfrm>
            <a:off x="11155680" y="6473952"/>
            <a:ext cx="502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rgbClr val="7C879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National Library of Medicine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From Prompt to Traversal Plan</dc:title>
  <dc:subject>How Ask a Question converts prompts into deterministic traversals and AI-generated AQL</dc:subject>
  <dc:creator>NLM CKN</dc:creator>
  <cp:lastModifiedBy>NLM CKN</cp:lastModifiedBy>
  <cp:revision>1</cp:revision>
  <dcterms:created xsi:type="dcterms:W3CDTF">2026-05-19T01:44:56Z</dcterms:created>
  <dcterms:modified xsi:type="dcterms:W3CDTF">2026-05-19T01:44:56Z</dcterms:modified>
</cp:coreProperties>
</file>